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 4" id="{453ae4fe-63e7-3664-bd72-4aede5dbba24}">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MecaTrack follows a layered architecture. Routes only handle HTTP and role checks; they call repositories, which hold every query and CRUD operation. Models map the ten tables with relationship() and back_populates. Appointments reference users twice, as client and as mechanic, so each relationship declares its foreign key explicitly. The schema is versioned with Flask-Migrate: an initial migration equivalent to schema.sql, and a second one that adds indexes for the scheduling engine. Both run automatically in the test suite and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lazy loading, each appointment triggers extra queries when we read its client, mechanic, vehicle, service or bay: one query for the list plus up to five per row. For one hundred appointments that is up to 501 round trips. The repository now passes joinedload() for those five relationships, so SQLAlchemy fetches everything in a single SELECT with LEFT OUTER JOINs. An integration test counts the SELECT statements and fails if anyone removes joinedload; I verified that by removing it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457200" y="822960"/>
            <a:ext cx="8229600" cy="365760"/>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MecaTrack · Guide 4 · Taller de Programación</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ORM architecture of MecaTrack</a:t>
            </a:r>
            <a:endParaRPr lang="en-US" sz="30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tx2"/>
                </a:solidFill>
              </a:rPr>
              <a:t>Flask + SQLAlchemy 2.0 + PostgreSQL: each layer only talks to the one below</a:t>
            </a:r>
            <a:endParaRPr lang="en-US" sz="1500" dirty="0"/>
          </a:p>
        </p:txBody>
      </p:sp>
      <p:sp>
        <p:nvSpPr>
          <p:cNvPr id="4" name="layer-Routes"/>
          <p:cNvSpPr/>
          <p:nvPr/>
        </p:nvSpPr>
        <p:spPr>
          <a:xfrm>
            <a:off x="457200" y="1371600"/>
            <a:ext cx="3931920" cy="548640"/>
          </a:xfrm>
          <a:prstGeom prst="roundRect">
            <a:avLst>
              <a:gd name="adj" fmla="val 13333"/>
            </a:avLst>
          </a:prstGeom>
          <a:solidFill>
            <a:schemeClr val="tx1"/>
          </a:solidFill>
          <a:ln/>
        </p:spPr>
      </p:sp>
      <p:sp>
        <p:nvSpPr>
          <p:cNvPr id="5" name="layer-text-Routes"/>
          <p:cNvSpPr txBox="1"/>
          <p:nvPr/>
        </p:nvSpPr>
        <p:spPr>
          <a:xfrm>
            <a:off x="594360" y="1371600"/>
            <a:ext cx="3657600" cy="548640"/>
          </a:xfrm>
          <a:prstGeom prst="rect">
            <a:avLst/>
          </a:prstGeom>
          <a:noFill/>
          <a:ln/>
        </p:spPr>
        <p:txBody>
          <a:bodyPr wrap="square" lIns="0" tIns="0" rIns="0" bIns="0" rtlCol="0" anchor="ctr"/>
          <a:lstStyle/>
          <a:p>
            <a:pPr indent="0" marL="0">
              <a:buNone/>
            </a:pPr>
            <a:r>
              <a:rPr lang="en-US" sz="1500" b="1" dirty="0">
                <a:solidFill>
                  <a:schemeClr val="bg1"/>
                </a:solidFill>
              </a:rPr>
              <a:t>Routes</a:t>
            </a:r>
            <a:endParaRPr lang="en-US" sz="1500" dirty="0"/>
          </a:p>
          <a:p>
            <a:pPr indent="0" marL="0">
              <a:buNone/>
            </a:pPr>
            <a:r>
              <a:rPr lang="en-US" sz="1100" dirty="0">
                <a:solidFill>
                  <a:schemeClr val="bg2"/>
                </a:solidFill>
              </a:rPr>
              <a:t>9 Flask blueprints · HTTP + role checks</a:t>
            </a:r>
            <a:endParaRPr lang="en-US" sz="1500" dirty="0"/>
          </a:p>
        </p:txBody>
      </p:sp>
      <p:sp>
        <p:nvSpPr>
          <p:cNvPr id="6" name="arrow-0"/>
          <p:cNvSpPr/>
          <p:nvPr/>
        </p:nvSpPr>
        <p:spPr>
          <a:xfrm>
            <a:off x="2423160" y="1938528"/>
            <a:ext cx="0" cy="192024"/>
          </a:xfrm>
          <a:prstGeom prst="line">
            <a:avLst/>
          </a:prstGeom>
          <a:noFill/>
          <a:ln w="19050">
            <a:solidFill>
              <a:schemeClr val="accent6"/>
            </a:solidFill>
            <a:prstDash val="solid"/>
            <a:tailEnd type="triangle"/>
          </a:ln>
        </p:spPr>
      </p:sp>
      <p:sp>
        <p:nvSpPr>
          <p:cNvPr id="7" name="layer-Repositories"/>
          <p:cNvSpPr/>
          <p:nvPr/>
        </p:nvSpPr>
        <p:spPr>
          <a:xfrm>
            <a:off x="457200" y="2148840"/>
            <a:ext cx="3931920" cy="548640"/>
          </a:xfrm>
          <a:prstGeom prst="roundRect">
            <a:avLst>
              <a:gd name="adj" fmla="val 13333"/>
            </a:avLst>
          </a:prstGeom>
          <a:solidFill>
            <a:schemeClr val="accent1"/>
          </a:solidFill>
          <a:ln/>
        </p:spPr>
      </p:sp>
      <p:sp>
        <p:nvSpPr>
          <p:cNvPr id="8" name="layer-text-Repositories"/>
          <p:cNvSpPr txBox="1"/>
          <p:nvPr/>
        </p:nvSpPr>
        <p:spPr>
          <a:xfrm>
            <a:off x="594360" y="2148840"/>
            <a:ext cx="3657600" cy="548640"/>
          </a:xfrm>
          <a:prstGeom prst="rect">
            <a:avLst/>
          </a:prstGeom>
          <a:noFill/>
          <a:ln/>
        </p:spPr>
        <p:txBody>
          <a:bodyPr wrap="square" lIns="0" tIns="0" rIns="0" bIns="0" rtlCol="0" anchor="ctr"/>
          <a:lstStyle/>
          <a:p>
            <a:pPr indent="0" marL="0">
              <a:buNone/>
            </a:pPr>
            <a:r>
              <a:rPr lang="en-US" sz="1500" b="1" dirty="0">
                <a:solidFill>
                  <a:schemeClr val="bg1"/>
                </a:solidFill>
              </a:rPr>
              <a:t>Repositories</a:t>
            </a:r>
            <a:endParaRPr lang="en-US" sz="1500" dirty="0"/>
          </a:p>
          <a:p>
            <a:pPr indent="0" marL="0">
              <a:buNone/>
            </a:pPr>
            <a:r>
              <a:rPr lang="en-US" sz="1100" dirty="0">
                <a:solidFill>
                  <a:schemeClr val="bg1"/>
                </a:solidFill>
              </a:rPr>
              <a:t>9 modules · CRUD, queries, joinedload()</a:t>
            </a:r>
            <a:endParaRPr lang="en-US" sz="1500" dirty="0"/>
          </a:p>
        </p:txBody>
      </p:sp>
      <p:sp>
        <p:nvSpPr>
          <p:cNvPr id="9" name="arrow-1"/>
          <p:cNvSpPr/>
          <p:nvPr/>
        </p:nvSpPr>
        <p:spPr>
          <a:xfrm>
            <a:off x="2423160" y="2715768"/>
            <a:ext cx="0" cy="192024"/>
          </a:xfrm>
          <a:prstGeom prst="line">
            <a:avLst/>
          </a:prstGeom>
          <a:noFill/>
          <a:ln w="19050">
            <a:solidFill>
              <a:schemeClr val="accent6"/>
            </a:solidFill>
            <a:prstDash val="solid"/>
            <a:tailEnd type="triangle"/>
          </a:ln>
        </p:spPr>
      </p:sp>
      <p:sp>
        <p:nvSpPr>
          <p:cNvPr id="10" name="layer-Models"/>
          <p:cNvSpPr/>
          <p:nvPr/>
        </p:nvSpPr>
        <p:spPr>
          <a:xfrm>
            <a:off x="457200" y="2926080"/>
            <a:ext cx="3931920" cy="548640"/>
          </a:xfrm>
          <a:prstGeom prst="roundRect">
            <a:avLst>
              <a:gd name="adj" fmla="val 13333"/>
            </a:avLst>
          </a:prstGeom>
          <a:solidFill>
            <a:schemeClr val="tx1"/>
          </a:solidFill>
          <a:ln/>
        </p:spPr>
      </p:sp>
      <p:sp>
        <p:nvSpPr>
          <p:cNvPr id="11" name="layer-text-Models"/>
          <p:cNvSpPr txBox="1"/>
          <p:nvPr/>
        </p:nvSpPr>
        <p:spPr>
          <a:xfrm>
            <a:off x="594360" y="2926080"/>
            <a:ext cx="3657600" cy="548640"/>
          </a:xfrm>
          <a:prstGeom prst="rect">
            <a:avLst/>
          </a:prstGeom>
          <a:noFill/>
          <a:ln/>
        </p:spPr>
        <p:txBody>
          <a:bodyPr wrap="square" lIns="0" tIns="0" rIns="0" bIns="0" rtlCol="0" anchor="ctr"/>
          <a:lstStyle/>
          <a:p>
            <a:pPr indent="0" marL="0">
              <a:buNone/>
            </a:pPr>
            <a:r>
              <a:rPr lang="en-US" sz="1500" b="1" dirty="0">
                <a:solidFill>
                  <a:schemeClr val="bg1"/>
                </a:solidFill>
              </a:rPr>
              <a:t>Models</a:t>
            </a:r>
            <a:endParaRPr lang="en-US" sz="1500" dirty="0"/>
          </a:p>
          <a:p>
            <a:pPr indent="0" marL="0">
              <a:buNone/>
            </a:pPr>
            <a:r>
              <a:rPr lang="en-US" sz="1100" dirty="0">
                <a:solidFill>
                  <a:schemeClr val="bg2"/>
                </a:solidFill>
              </a:rPr>
              <a:t>10 entities · relationship() + back_populates</a:t>
            </a:r>
            <a:endParaRPr lang="en-US" sz="1500" dirty="0"/>
          </a:p>
        </p:txBody>
      </p:sp>
      <p:sp>
        <p:nvSpPr>
          <p:cNvPr id="12" name="arrow-2"/>
          <p:cNvSpPr/>
          <p:nvPr/>
        </p:nvSpPr>
        <p:spPr>
          <a:xfrm>
            <a:off x="2423160" y="3493008"/>
            <a:ext cx="0" cy="192024"/>
          </a:xfrm>
          <a:prstGeom prst="line">
            <a:avLst/>
          </a:prstGeom>
          <a:noFill/>
          <a:ln w="19050">
            <a:solidFill>
              <a:schemeClr val="accent6"/>
            </a:solidFill>
            <a:prstDash val="solid"/>
            <a:tailEnd type="triangle"/>
          </a:ln>
        </p:spPr>
      </p:sp>
      <p:sp>
        <p:nvSpPr>
          <p:cNvPr id="13" name="layer-PostgreSQL"/>
          <p:cNvSpPr/>
          <p:nvPr/>
        </p:nvSpPr>
        <p:spPr>
          <a:xfrm>
            <a:off x="457200" y="3703320"/>
            <a:ext cx="3931920" cy="548640"/>
          </a:xfrm>
          <a:prstGeom prst="roundRect">
            <a:avLst>
              <a:gd name="adj" fmla="val 13333"/>
            </a:avLst>
          </a:prstGeom>
          <a:solidFill>
            <a:schemeClr val="tx1"/>
          </a:solidFill>
          <a:ln/>
        </p:spPr>
      </p:sp>
      <p:sp>
        <p:nvSpPr>
          <p:cNvPr id="14" name="layer-text-PostgreSQL"/>
          <p:cNvSpPr txBox="1"/>
          <p:nvPr/>
        </p:nvSpPr>
        <p:spPr>
          <a:xfrm>
            <a:off x="594360" y="3703320"/>
            <a:ext cx="3657600" cy="548640"/>
          </a:xfrm>
          <a:prstGeom prst="rect">
            <a:avLst/>
          </a:prstGeom>
          <a:noFill/>
          <a:ln/>
        </p:spPr>
        <p:txBody>
          <a:bodyPr wrap="square" lIns="0" tIns="0" rIns="0" bIns="0" rtlCol="0" anchor="ctr"/>
          <a:lstStyle/>
          <a:p>
            <a:pPr indent="0" marL="0">
              <a:buNone/>
            </a:pPr>
            <a:r>
              <a:rPr lang="en-US" sz="1500" b="1" dirty="0">
                <a:solidFill>
                  <a:schemeClr val="bg1"/>
                </a:solidFill>
              </a:rPr>
              <a:t>PostgreSQL</a:t>
            </a:r>
            <a:endParaRPr lang="en-US" sz="1500" dirty="0"/>
          </a:p>
          <a:p>
            <a:pPr indent="0" marL="0">
              <a:buNone/>
            </a:pPr>
            <a:r>
              <a:rPr lang="en-US" sz="1100" dirty="0">
                <a:solidFill>
                  <a:schemeClr val="bg2"/>
                </a:solidFill>
              </a:rPr>
              <a:t>taller_mecanico · versioned with Alembic</a:t>
            </a:r>
            <a:endParaRPr lang="en-US" sz="1500" dirty="0"/>
          </a:p>
        </p:txBody>
      </p:sp>
      <p:sp>
        <p:nvSpPr>
          <p:cNvPr id="15" name="card-relationship"/>
          <p:cNvSpPr/>
          <p:nvPr/>
        </p:nvSpPr>
        <p:spPr>
          <a:xfrm>
            <a:off x="4754880" y="1371600"/>
            <a:ext cx="3931920" cy="1645920"/>
          </a:xfrm>
          <a:prstGeom prst="roundRect">
            <a:avLst>
              <a:gd name="adj" fmla="val 4444"/>
            </a:avLst>
          </a:prstGeom>
          <a:solidFill>
            <a:schemeClr val="tx1"/>
          </a:solidFill>
          <a:ln/>
        </p:spPr>
      </p:sp>
      <p:sp>
        <p:nvSpPr>
          <p:cNvPr id="16" name="Text 14"/>
          <p:cNvSpPr txBox="1"/>
          <p:nvPr/>
        </p:nvSpPr>
        <p:spPr>
          <a:xfrm>
            <a:off x="4937760" y="1481328"/>
            <a:ext cx="3566160" cy="320040"/>
          </a:xfrm>
          <a:prstGeom prst="rect">
            <a:avLst/>
          </a:prstGeom>
          <a:noFill/>
          <a:ln/>
        </p:spPr>
        <p:txBody>
          <a:bodyPr wrap="square" lIns="0" tIns="0" rIns="0" bIns="0" rtlCol="0" anchor="ctr"/>
          <a:lstStyle/>
          <a:p>
            <a:pPr indent="0" marL="0">
              <a:buNone/>
            </a:pPr>
            <a:r>
              <a:rPr lang="en-US" sz="1400" b="1" dirty="0">
                <a:solidFill>
                  <a:schemeClr val="accent5"/>
                </a:solidFill>
              </a:rPr>
              <a:t>Two FKs to users → explicit aliases</a:t>
            </a:r>
            <a:endParaRPr lang="en-US" sz="1400" dirty="0"/>
          </a:p>
        </p:txBody>
      </p:sp>
      <p:sp>
        <p:nvSpPr>
          <p:cNvPr id="17" name="code-relationship"/>
          <p:cNvSpPr txBox="1"/>
          <p:nvPr/>
        </p:nvSpPr>
        <p:spPr>
          <a:xfrm>
            <a:off x="4937760" y="1847088"/>
            <a:ext cx="3566160" cy="11887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client = relationship(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'User',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foreign_keys=[client_user_id])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mechanic = relationship(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'User',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foreign_keys=[mechanic_user_id])</a:t>
            </a:r>
            <a:endParaRPr lang="en-US" sz="1100" dirty="0"/>
          </a:p>
        </p:txBody>
      </p:sp>
      <p:sp>
        <p:nvSpPr>
          <p:cNvPr id="18" name="card-migrations"/>
          <p:cNvSpPr/>
          <p:nvPr/>
        </p:nvSpPr>
        <p:spPr>
          <a:xfrm>
            <a:off x="4754880" y="3246120"/>
            <a:ext cx="3931920" cy="1005840"/>
          </a:xfrm>
          <a:prstGeom prst="roundRect">
            <a:avLst>
              <a:gd name="adj" fmla="val 7273"/>
            </a:avLst>
          </a:prstGeom>
          <a:solidFill>
            <a:schemeClr val="bg2"/>
          </a:solidFill>
          <a:ln/>
        </p:spPr>
      </p:sp>
      <p:sp>
        <p:nvSpPr>
          <p:cNvPr id="19" name="text-migrations"/>
          <p:cNvSpPr txBox="1"/>
          <p:nvPr/>
        </p:nvSpPr>
        <p:spPr>
          <a:xfrm>
            <a:off x="4937760" y="3319272"/>
            <a:ext cx="3611880" cy="868680"/>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Flask-Migrate (Alembic)</a:t>
            </a:r>
            <a:endParaRPr lang="en-US" sz="1400" dirty="0"/>
          </a:p>
          <a:p>
            <a:pPr indent="0" marL="0">
              <a:spcAft>
                <a:spcPts val="200"/>
              </a:spcAft>
              <a:buNone/>
            </a:pPr>
            <a:r>
              <a:rPr lang="en-US" sz="1100" b="1" dirty="0">
                <a:solidFill>
                  <a:schemeClr val="accent1"/>
                </a:solidFill>
                <a:latin typeface="Courier New" pitchFamily="34" charset="0"/>
                <a:ea typeface="Courier New" pitchFamily="34" charset="-122"/>
                <a:cs typeface="Courier New" pitchFamily="34" charset="-120"/>
              </a:rPr>
              <a:t>26b91cd</a:t>
            </a:r>
            <a:pPr indent="0" marL="0">
              <a:spcAft>
                <a:spcPts val="200"/>
              </a:spcAft>
              <a:buNone/>
            </a:pPr>
            <a:r>
              <a:rPr lang="en-US" sz="1200" dirty="0">
                <a:solidFill>
                  <a:schemeClr val="tx1"/>
                </a:solidFill>
              </a:rPr>
              <a:t>  initial schema · 10 tables</a:t>
            </a:r>
            <a:endParaRPr lang="en-US" sz="1400" dirty="0"/>
          </a:p>
          <a:p>
            <a:pPr indent="0" marL="0">
              <a:spcAft>
                <a:spcPts val="200"/>
              </a:spcAft>
              <a:buNone/>
            </a:pPr>
            <a:r>
              <a:rPr lang="en-US" sz="1100" b="1" dirty="0">
                <a:solidFill>
                  <a:schemeClr val="accent1"/>
                </a:solidFill>
                <a:latin typeface="Courier New" pitchFamily="34" charset="0"/>
                <a:ea typeface="Courier New" pitchFamily="34" charset="-122"/>
                <a:cs typeface="Courier New" pitchFamily="34" charset="-120"/>
              </a:rPr>
              <a:t>6a4f4ff</a:t>
            </a:r>
            <a:pPr indent="0" marL="0">
              <a:spcAft>
                <a:spcPts val="200"/>
              </a:spcAft>
              <a:buNone/>
            </a:pPr>
            <a:r>
              <a:rPr lang="en-US" sz="1200" dirty="0">
                <a:solidFill>
                  <a:schemeClr val="tx1"/>
                </a:solidFill>
              </a:rPr>
              <a:t>  scheduling indexes</a:t>
            </a:r>
            <a:endParaRPr lang="en-US" sz="1400" dirty="0"/>
          </a:p>
          <a:p>
            <a:pPr indent="0" marL="0">
              <a:spcAft>
                <a:spcPts val="200"/>
              </a:spcAft>
              <a:buNone/>
            </a:pPr>
            <a:r>
              <a:rPr lang="en-US" sz="1100" i="1" dirty="0">
                <a:solidFill>
                  <a:schemeClr val="tx2"/>
                </a:solidFill>
              </a:rPr>
              <a:t>Applied automatically by pytest and GitHub Actions</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The N+1 problem, solved with joinedload()</a:t>
            </a:r>
            <a:endParaRPr lang="en-US" sz="30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indent="0" marL="0">
              <a:buNone/>
            </a:pPr>
            <a:r>
              <a:rPr lang="en-US" sz="1500" dirty="0">
                <a:solidFill>
                  <a:schemeClr val="tx2"/>
                </a:solidFill>
              </a:rPr>
              <a:t>Listing appointments with their client, mechanic, vehicle, service and bay</a:t>
            </a:r>
            <a:endParaRPr lang="en-US" sz="1500" dirty="0"/>
          </a:p>
        </p:txBody>
      </p:sp>
      <p:sp>
        <p:nvSpPr>
          <p:cNvPr id="4" name="card-0"/>
          <p:cNvSpPr/>
          <p:nvPr/>
        </p:nvSpPr>
        <p:spPr>
          <a:xfrm>
            <a:off x="457200" y="1371600"/>
            <a:ext cx="3931920" cy="2880360"/>
          </a:xfrm>
          <a:prstGeom prst="roundRect">
            <a:avLst>
              <a:gd name="adj" fmla="val 2540"/>
            </a:avLst>
          </a:prstGeom>
          <a:solidFill>
            <a:schemeClr val="accent3">
              <a:alpha val="10000"/>
            </a:schemeClr>
          </a:solidFill>
          <a:ln/>
        </p:spPr>
      </p:sp>
      <p:sp>
        <p:nvSpPr>
          <p:cNvPr id="5" name="Text 3"/>
          <p:cNvSpPr txBox="1"/>
          <p:nvPr/>
        </p:nvSpPr>
        <p:spPr>
          <a:xfrm>
            <a:off x="640080" y="1481328"/>
            <a:ext cx="3566160" cy="320040"/>
          </a:xfrm>
          <a:prstGeom prst="rect">
            <a:avLst/>
          </a:prstGeom>
          <a:noFill/>
          <a:ln/>
        </p:spPr>
        <p:txBody>
          <a:bodyPr wrap="square" lIns="0" tIns="0" rIns="0" bIns="0" rtlCol="0" anchor="ctr"/>
          <a:lstStyle/>
          <a:p>
            <a:pPr indent="0" marL="0">
              <a:buNone/>
            </a:pPr>
            <a:r>
              <a:rPr lang="en-US" sz="1400" b="1" spc="100" kern="0" dirty="0">
                <a:solidFill>
                  <a:schemeClr val="accent3"/>
                </a:solidFill>
              </a:rPr>
              <a:t>BEFORE · lazy loading</a:t>
            </a:r>
            <a:endParaRPr lang="en-US" sz="1400" dirty="0"/>
          </a:p>
        </p:txBody>
      </p:sp>
      <p:sp>
        <p:nvSpPr>
          <p:cNvPr id="6" name="code-bg-0"/>
          <p:cNvSpPr/>
          <p:nvPr/>
        </p:nvSpPr>
        <p:spPr>
          <a:xfrm>
            <a:off x="640080" y="1847088"/>
            <a:ext cx="3566160" cy="1051560"/>
          </a:xfrm>
          <a:prstGeom prst="roundRect">
            <a:avLst>
              <a:gd name="adj" fmla="val 5217"/>
            </a:avLst>
          </a:prstGeom>
          <a:solidFill>
            <a:schemeClr val="tx1"/>
          </a:solidFill>
          <a:ln/>
        </p:spPr>
      </p:sp>
      <p:sp>
        <p:nvSpPr>
          <p:cNvPr id="7" name="code-0"/>
          <p:cNvSpPr txBox="1"/>
          <p:nvPr/>
        </p:nvSpPr>
        <p:spPr>
          <a:xfrm>
            <a:off x="749808" y="1920240"/>
            <a:ext cx="3383280" cy="914400"/>
          </a:xfrm>
          <a:prstGeom prst="rect">
            <a:avLst/>
          </a:prstGeom>
          <a:noFill/>
          <a:ln/>
        </p:spPr>
        <p:txBody>
          <a:bodyPr wrap="square" lIns="0" tIns="0" rIns="0" bIns="0" rtlCol="0" anchor="ctr"/>
          <a:lstStyle/>
          <a:p>
            <a:pPr indent="0" marL="0">
              <a:buNone/>
            </a:pPr>
            <a:r>
              <a:rPr lang="en-US" sz="1050" dirty="0">
                <a:solidFill>
                  <a:schemeClr val="bg1"/>
                </a:solidFill>
                <a:latin typeface="Courier New" pitchFamily="34" charset="0"/>
                <a:ea typeface="Courier New" pitchFamily="34" charset="-122"/>
                <a:cs typeface="Courier New" pitchFamily="34" charset="-120"/>
              </a:rPr>
              <a:t>appointments = Appointment.query.all()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for a in appointments: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a.client.first_name     # +1 query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a.vehicle.license_plate # +1 query</a:t>
            </a:r>
            <a:endParaRPr lang="en-US" sz="1050" dirty="0"/>
          </a:p>
        </p:txBody>
      </p:sp>
      <p:sp>
        <p:nvSpPr>
          <p:cNvPr id="8" name="stat-0"/>
          <p:cNvSpPr txBox="1"/>
          <p:nvPr/>
        </p:nvSpPr>
        <p:spPr>
          <a:xfrm>
            <a:off x="640080" y="2971800"/>
            <a:ext cx="3566160" cy="777240"/>
          </a:xfrm>
          <a:prstGeom prst="rect">
            <a:avLst/>
          </a:prstGeom>
          <a:noFill/>
          <a:ln/>
        </p:spPr>
        <p:txBody>
          <a:bodyPr wrap="square" lIns="0" tIns="0" rIns="0" bIns="0" rtlCol="0" anchor="ctr"/>
          <a:lstStyle/>
          <a:p>
            <a:pPr indent="0" marL="0">
              <a:buNone/>
            </a:pPr>
            <a:r>
              <a:rPr lang="en-US" sz="5400" b="1" dirty="0">
                <a:solidFill>
                  <a:schemeClr val="accent3"/>
                </a:solidFill>
              </a:rPr>
              <a:t>501</a:t>
            </a:r>
            <a:endParaRPr lang="en-US" sz="5400" dirty="0"/>
          </a:p>
        </p:txBody>
      </p:sp>
      <p:sp>
        <p:nvSpPr>
          <p:cNvPr id="9" name="stat-label-0"/>
          <p:cNvSpPr txBox="1"/>
          <p:nvPr/>
        </p:nvSpPr>
        <p:spPr>
          <a:xfrm>
            <a:off x="640080" y="3749040"/>
            <a:ext cx="3566160" cy="457200"/>
          </a:xfrm>
          <a:prstGeom prst="rect">
            <a:avLst/>
          </a:prstGeom>
          <a:noFill/>
          <a:ln/>
        </p:spPr>
        <p:txBody>
          <a:bodyPr wrap="square" lIns="0" tIns="0" rIns="0" bIns="0" rtlCol="0" anchor="t"/>
          <a:lstStyle/>
          <a:p>
            <a:pPr indent="0" marL="0">
              <a:buNone/>
            </a:pPr>
            <a:r>
              <a:rPr lang="en-US" sz="1300" dirty="0">
                <a:solidFill>
                  <a:schemeClr val="tx1"/>
                </a:solidFill>
              </a:rPr>
              <a:t>queries for 100 appointments (up to 1 + 5N)</a:t>
            </a:r>
            <a:endParaRPr lang="en-US" sz="1300" dirty="0"/>
          </a:p>
        </p:txBody>
      </p:sp>
      <p:sp>
        <p:nvSpPr>
          <p:cNvPr id="10" name="card-1"/>
          <p:cNvSpPr/>
          <p:nvPr/>
        </p:nvSpPr>
        <p:spPr>
          <a:xfrm>
            <a:off x="4754880" y="1371600"/>
            <a:ext cx="3931920" cy="2880360"/>
          </a:xfrm>
          <a:prstGeom prst="roundRect">
            <a:avLst>
              <a:gd name="adj" fmla="val 2540"/>
            </a:avLst>
          </a:prstGeom>
          <a:solidFill>
            <a:schemeClr val="accent2">
              <a:alpha val="10000"/>
            </a:schemeClr>
          </a:solidFill>
          <a:ln/>
        </p:spPr>
      </p:sp>
      <p:sp>
        <p:nvSpPr>
          <p:cNvPr id="11" name="Text 9"/>
          <p:cNvSpPr txBox="1"/>
          <p:nvPr/>
        </p:nvSpPr>
        <p:spPr>
          <a:xfrm>
            <a:off x="4937760" y="1481328"/>
            <a:ext cx="3566160" cy="320040"/>
          </a:xfrm>
          <a:prstGeom prst="rect">
            <a:avLst/>
          </a:prstGeom>
          <a:noFill/>
          <a:ln/>
        </p:spPr>
        <p:txBody>
          <a:bodyPr wrap="square" lIns="0" tIns="0" rIns="0" bIns="0" rtlCol="0" anchor="ctr"/>
          <a:lstStyle/>
          <a:p>
            <a:pPr indent="0" marL="0">
              <a:buNone/>
            </a:pPr>
            <a:r>
              <a:rPr lang="en-US" sz="1400" b="1" spc="100" kern="0" dirty="0">
                <a:solidFill>
                  <a:schemeClr val="accent2"/>
                </a:solidFill>
              </a:rPr>
              <a:t>AFTER · joinedload()</a:t>
            </a:r>
            <a:endParaRPr lang="en-US" sz="1400" dirty="0"/>
          </a:p>
        </p:txBody>
      </p:sp>
      <p:sp>
        <p:nvSpPr>
          <p:cNvPr id="12" name="code-bg-1"/>
          <p:cNvSpPr/>
          <p:nvPr/>
        </p:nvSpPr>
        <p:spPr>
          <a:xfrm>
            <a:off x="4937760" y="1847088"/>
            <a:ext cx="3566160" cy="1051560"/>
          </a:xfrm>
          <a:prstGeom prst="roundRect">
            <a:avLst>
              <a:gd name="adj" fmla="val 5217"/>
            </a:avLst>
          </a:prstGeom>
          <a:solidFill>
            <a:schemeClr val="tx1"/>
          </a:solidFill>
          <a:ln/>
        </p:spPr>
      </p:sp>
      <p:sp>
        <p:nvSpPr>
          <p:cNvPr id="13" name="code-1"/>
          <p:cNvSpPr txBox="1"/>
          <p:nvPr/>
        </p:nvSpPr>
        <p:spPr>
          <a:xfrm>
            <a:off x="5047488" y="1920240"/>
            <a:ext cx="3383280" cy="914400"/>
          </a:xfrm>
          <a:prstGeom prst="rect">
            <a:avLst/>
          </a:prstGeom>
          <a:noFill/>
          <a:ln/>
        </p:spPr>
        <p:txBody>
          <a:bodyPr wrap="square" lIns="0" tIns="0" rIns="0" bIns="0" rtlCol="0" anchor="ctr"/>
          <a:lstStyle/>
          <a:p>
            <a:pPr indent="0" marL="0">
              <a:buNone/>
            </a:pPr>
            <a:r>
              <a:rPr lang="en-US" sz="1050" dirty="0">
                <a:solidFill>
                  <a:schemeClr val="bg1"/>
                </a:solidFill>
                <a:latin typeface="Courier New" pitchFamily="34" charset="0"/>
                <a:ea typeface="Courier New" pitchFamily="34" charset="-122"/>
                <a:cs typeface="Courier New" pitchFamily="34" charset="-120"/>
              </a:rPr>
              <a:t>Appointment.query.options(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joinedload(Appointment.client),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joinedload(Appointment.vehicle),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  # 5 relations, one SELECT</a:t>
            </a:r>
            <a:endParaRPr lang="en-US" sz="1050" dirty="0"/>
          </a:p>
        </p:txBody>
      </p:sp>
      <p:sp>
        <p:nvSpPr>
          <p:cNvPr id="14" name="stat-1"/>
          <p:cNvSpPr txBox="1"/>
          <p:nvPr/>
        </p:nvSpPr>
        <p:spPr>
          <a:xfrm>
            <a:off x="4937760" y="2971800"/>
            <a:ext cx="3566160" cy="777240"/>
          </a:xfrm>
          <a:prstGeom prst="rect">
            <a:avLst/>
          </a:prstGeom>
          <a:noFill/>
          <a:ln/>
        </p:spPr>
        <p:txBody>
          <a:bodyPr wrap="square" lIns="0" tIns="0" rIns="0" bIns="0" rtlCol="0" anchor="ctr"/>
          <a:lstStyle/>
          <a:p>
            <a:pPr indent="0" marL="0">
              <a:buNone/>
            </a:pPr>
            <a:r>
              <a:rPr lang="en-US" sz="5400" b="1" dirty="0">
                <a:solidFill>
                  <a:schemeClr val="accent2"/>
                </a:solidFill>
              </a:rPr>
              <a:t>1</a:t>
            </a:r>
            <a:endParaRPr lang="en-US" sz="5400" dirty="0"/>
          </a:p>
        </p:txBody>
      </p:sp>
      <p:sp>
        <p:nvSpPr>
          <p:cNvPr id="15" name="stat-label-1"/>
          <p:cNvSpPr txBox="1"/>
          <p:nvPr/>
        </p:nvSpPr>
        <p:spPr>
          <a:xfrm>
            <a:off x="4937760" y="3749040"/>
            <a:ext cx="3566160" cy="457200"/>
          </a:xfrm>
          <a:prstGeom prst="rect">
            <a:avLst/>
          </a:prstGeom>
          <a:noFill/>
          <a:ln/>
        </p:spPr>
        <p:txBody>
          <a:bodyPr wrap="square" lIns="0" tIns="0" rIns="0" bIns="0" rtlCol="0" anchor="t"/>
          <a:lstStyle/>
          <a:p>
            <a:pPr indent="0" marL="0">
              <a:buNone/>
            </a:pPr>
            <a:r>
              <a:rPr lang="en-US" sz="1300" dirty="0">
                <a:solidFill>
                  <a:schemeClr val="tx1"/>
                </a:solidFill>
              </a:rPr>
              <a:t>query with LEFT OUTER JOINs, any N</a:t>
            </a:r>
            <a:endParaRPr lang="en-US" sz="1300" dirty="0"/>
          </a:p>
        </p:txBody>
      </p:sp>
      <p:sp>
        <p:nvSpPr>
          <p:cNvPr id="16" name="test-note"/>
          <p:cNvSpPr txBox="1"/>
          <p:nvPr/>
        </p:nvSpPr>
        <p:spPr>
          <a:xfrm>
            <a:off x="457200" y="4407408"/>
            <a:ext cx="8229600" cy="256032"/>
          </a:xfrm>
          <a:prstGeom prst="rect">
            <a:avLst/>
          </a:prstGeom>
          <a:noFill/>
          <a:ln/>
        </p:spPr>
        <p:txBody>
          <a:bodyPr wrap="square" lIns="0" tIns="0" rIns="0" bIns="0" rtlCol="0" anchor="ctr"/>
          <a:lstStyle/>
          <a:p>
            <a:pPr indent="0" marL="0">
              <a:buNone/>
            </a:pPr>
            <a:r>
              <a:rPr lang="en-US" sz="1200" i="1" dirty="0">
                <a:solidFill>
                  <a:schemeClr val="tx2"/>
                </a:solidFill>
              </a:rPr>
              <a:t>Guarded by an integration test: listing appointments must issue ≤ 2 SELECTs</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MecaTrack Workshop">
  <a:themeElements>
    <a:clrScheme name="MecaTrack Workshop">
      <a:dk1>
        <a:srgbClr val="1E293B"/>
      </a:dk1>
      <a:lt1>
        <a:srgbClr val="FFFFFF"/>
      </a:lt1>
      <a:dk2>
        <a:srgbClr val="475569"/>
      </a:dk2>
      <a:lt2>
        <a:srgbClr val="F1F5F9"/>
      </a:lt2>
      <a:accent1>
        <a:srgbClr val="D97706"/>
      </a:accent1>
      <a:accent2>
        <a:srgbClr val="0F766E"/>
      </a:accent2>
      <a:accent3>
        <a:srgbClr val="B91C1C"/>
      </a:accent3>
      <a:accent4>
        <a:srgbClr val="334155"/>
      </a:accent4>
      <a:accent5>
        <a:srgbClr val="FBBF24"/>
      </a:accent5>
      <a:accent6>
        <a:srgbClr val="94A3B8"/>
      </a:accent6>
      <a:hlink>
        <a:srgbClr val="0F766E"/>
      </a:hlink>
      <a:folHlink>
        <a:srgbClr val="475569"/>
      </a:folHlink>
    </a:clrScheme>
    <a:fontScheme name="MecaTrack Worksh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MecaTrack – Guide 4: ORM architecture and N+1</dc:title>
  <dc:subject>PptxGenJS Presentation</dc:subject>
  <dc:creator>MecaTrack</dc:creator>
  <cp:lastModifiedBy>MecaTrack</cp:lastModifiedBy>
  <cp:revision>1</cp:revision>
  <dcterms:created xsi:type="dcterms:W3CDTF">2026-10-19T01:30:56Z</dcterms:created>
  <dcterms:modified xsi:type="dcterms:W3CDTF">2026-10-19T01:30:56Z</dcterms:modified>
</cp:coreProperties>
</file>